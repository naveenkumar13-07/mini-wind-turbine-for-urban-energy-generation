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02"/>
  </p:normalViewPr>
  <p:slideViewPr>
    <p:cSldViewPr snapToGrid="0" snapToObjects="1" showGuides="1">
      <p:cViewPr varScale="1">
        <p:scale>
          <a:sx n="77" d="100"/>
          <a:sy n="77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606" y="2610192"/>
            <a:ext cx="6638544" cy="2386584"/>
          </a:xfrm>
        </p:spPr>
        <p:txBody>
          <a:bodyPr/>
          <a:lstStyle/>
          <a:p>
            <a:r>
              <a:rPr lang="en-US" dirty="0"/>
              <a:t>MINI WIND TURBINE FOR URBAN ENERGY GENERATION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6925519" y="1015678"/>
            <a:ext cx="5266481" cy="5842322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5255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34125"/>
            <a:ext cx="7105624" cy="978729"/>
          </a:xfrm>
        </p:spPr>
        <p:txBody>
          <a:bodyPr/>
          <a:lstStyle/>
          <a:p>
            <a:r>
              <a:rPr lang="en-IN" sz="3200" dirty="0"/>
              <a:t>MINI WIND TURBINE FOR URBAN ENERGY GENERATION</a:t>
            </a:r>
            <a:endParaRPr lang="en-US" sz="32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464752"/>
            <a:ext cx="10799411" cy="396824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Smart IoT-Based Renewable Energy Generation &amp; Monitoring System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Main Technologies:</a:t>
            </a:r>
            <a:endParaRPr lang="en-IN" dirty="0"/>
          </a:p>
          <a:p>
            <a:r>
              <a:rPr lang="en-IN" dirty="0"/>
              <a:t>ESP32 </a:t>
            </a:r>
          </a:p>
          <a:p>
            <a:r>
              <a:rPr lang="en-IN" dirty="0"/>
              <a:t>Blynk IoT </a:t>
            </a:r>
          </a:p>
          <a:p>
            <a:r>
              <a:rPr lang="en-IN" dirty="0"/>
              <a:t>Voltage &amp; Current Monitoring </a:t>
            </a:r>
          </a:p>
          <a:p>
            <a:r>
              <a:rPr lang="en-IN" dirty="0"/>
              <a:t>Battery Energy Storage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6945"/>
            <a:ext cx="10515600" cy="590931"/>
          </a:xfrm>
        </p:spPr>
        <p:txBody>
          <a:bodyPr/>
          <a:lstStyle/>
          <a:p>
            <a:r>
              <a:rPr lang="en-US" dirty="0"/>
              <a:t>Double Content Slide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7" y="1954187"/>
            <a:ext cx="5017796" cy="448594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Smart Urban Wind Energy System</a:t>
            </a:r>
          </a:p>
          <a:p>
            <a:r>
              <a:rPr lang="en-IN" dirty="0"/>
              <a:t>An IoT-based system that converts </a:t>
            </a:r>
            <a:r>
              <a:rPr lang="en-IN" b="1" dirty="0"/>
              <a:t>wind energy into electrical energy</a:t>
            </a:r>
            <a:r>
              <a:rPr lang="en-IN" dirty="0"/>
              <a:t> using a mini wind turbine.</a:t>
            </a:r>
          </a:p>
          <a:p>
            <a:r>
              <a:rPr lang="en-IN" dirty="0"/>
              <a:t>The generated energy is stored in a rechargeable battery, while </a:t>
            </a:r>
            <a:r>
              <a:rPr lang="en-IN" b="1" dirty="0"/>
              <a:t>ESP32 monitors voltage, current, power, and battery status</a:t>
            </a:r>
            <a:r>
              <a:rPr lang="en-IN" dirty="0"/>
              <a:t>.</a:t>
            </a:r>
          </a:p>
          <a:p>
            <a:r>
              <a:rPr lang="en-IN" dirty="0"/>
              <a:t>The data is displayed locally on an </a:t>
            </a:r>
            <a:r>
              <a:rPr lang="en-IN" b="1" dirty="0"/>
              <a:t>OLED display</a:t>
            </a:r>
            <a:r>
              <a:rPr lang="en-IN" dirty="0"/>
              <a:t> and remotely through the </a:t>
            </a:r>
            <a:r>
              <a:rPr lang="en-IN" b="1" dirty="0"/>
              <a:t>Blynk IoT platform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5FC65B-DEB7-A117-59BA-FFC3E56C2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1663" y="1956842"/>
            <a:ext cx="5199441" cy="448328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To develop a compact and low-cost renewable-energy system suitable for </a:t>
            </a:r>
            <a:r>
              <a:rPr lang="en-IN" b="1" dirty="0"/>
              <a:t>urban and small-scale applications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US" dirty="0"/>
              <a:t>Bulleted List Slide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D5515-6276-4881-A3CD-953AD66FA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07" y="1942348"/>
            <a:ext cx="11304149" cy="4742551"/>
          </a:xfrm>
        </p:spPr>
        <p:txBody>
          <a:bodyPr/>
          <a:lstStyle/>
          <a:p>
            <a:pPr lvl="0"/>
            <a:r>
              <a:rPr lang="en-IN" sz="2000" b="1" dirty="0"/>
              <a:t>Mini Wind Turbine</a:t>
            </a:r>
            <a:r>
              <a:rPr lang="en-IN" sz="2000" dirty="0"/>
              <a:t> – Captures wind energy </a:t>
            </a:r>
          </a:p>
          <a:p>
            <a:pPr lvl="0"/>
            <a:r>
              <a:rPr lang="en-IN" sz="2000" b="1" dirty="0"/>
              <a:t>Generator</a:t>
            </a:r>
            <a:r>
              <a:rPr lang="en-IN" sz="2000" dirty="0"/>
              <a:t> – Produces electrical energy </a:t>
            </a:r>
          </a:p>
          <a:p>
            <a:pPr lvl="0"/>
            <a:r>
              <a:rPr lang="en-IN" sz="2000" b="1" dirty="0"/>
              <a:t>Bridge Rectifier</a:t>
            </a:r>
            <a:r>
              <a:rPr lang="en-IN" sz="2000" dirty="0"/>
              <a:t> – Converts AC to DC </a:t>
            </a:r>
          </a:p>
          <a:p>
            <a:pPr lvl="0"/>
            <a:r>
              <a:rPr lang="en-IN" sz="2000" b="1" dirty="0"/>
              <a:t>Charging Module</a:t>
            </a:r>
            <a:r>
              <a:rPr lang="en-IN" sz="2000" dirty="0"/>
              <a:t> – Controls battery charging </a:t>
            </a:r>
          </a:p>
          <a:p>
            <a:pPr lvl="0"/>
            <a:r>
              <a:rPr lang="en-IN" sz="2000" b="1" dirty="0"/>
              <a:t>Battery</a:t>
            </a:r>
            <a:r>
              <a:rPr lang="en-IN" sz="2000" dirty="0"/>
              <a:t> – Stores generated energy </a:t>
            </a:r>
          </a:p>
          <a:p>
            <a:pPr lvl="0"/>
            <a:r>
              <a:rPr lang="en-IN" sz="2000" b="1" dirty="0"/>
              <a:t>ESP32</a:t>
            </a:r>
            <a:r>
              <a:rPr lang="en-IN" sz="2000" dirty="0"/>
              <a:t> – Main controller </a:t>
            </a:r>
          </a:p>
          <a:p>
            <a:pPr lvl="0"/>
            <a:r>
              <a:rPr lang="en-IN" sz="2000" b="1" dirty="0"/>
              <a:t>Voltage Sensor</a:t>
            </a:r>
            <a:r>
              <a:rPr lang="en-IN" sz="2000" dirty="0"/>
              <a:t> – Measures voltage </a:t>
            </a:r>
          </a:p>
          <a:p>
            <a:pPr lvl="0"/>
            <a:r>
              <a:rPr lang="en-IN" sz="2000" b="1" dirty="0"/>
              <a:t>ACS712</a:t>
            </a:r>
            <a:r>
              <a:rPr lang="en-IN" sz="2000" dirty="0"/>
              <a:t> – Measures current </a:t>
            </a:r>
          </a:p>
          <a:p>
            <a:pPr lvl="0"/>
            <a:r>
              <a:rPr lang="en-IN" sz="2000" b="1" dirty="0"/>
              <a:t>OLED</a:t>
            </a:r>
            <a:r>
              <a:rPr lang="en-IN" sz="2000" dirty="0"/>
              <a:t> – Local monitoring </a:t>
            </a:r>
          </a:p>
          <a:p>
            <a:pPr lvl="0"/>
            <a:r>
              <a:rPr lang="en-IN" sz="2000" b="1" dirty="0"/>
              <a:t>Blynk IoT</a:t>
            </a:r>
            <a:r>
              <a:rPr lang="en-IN" sz="2000" dirty="0"/>
              <a:t> – Remote monitoring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3897"/>
            <a:ext cx="10515600" cy="590931"/>
          </a:xfrm>
        </p:spPr>
        <p:txBody>
          <a:bodyPr/>
          <a:lstStyle/>
          <a:p>
            <a:r>
              <a:rPr lang="en-US" dirty="0"/>
              <a:t>Comparison Slide</a:t>
            </a:r>
          </a:p>
        </p:txBody>
      </p:sp>
      <p:sp>
        <p:nvSpPr>
          <p:cNvPr id="13" name="Compare Section">
            <a:extLst>
              <a:ext uri="{FF2B5EF4-FFF2-40B4-BE49-F238E27FC236}">
                <a16:creationId xmlns:a16="http://schemas.microsoft.com/office/drawing/2014/main" id="{384880BB-377B-F24A-A7CA-B308CACE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039567"/>
            <a:ext cx="5138928" cy="450829"/>
          </a:xfrm>
        </p:spPr>
        <p:txBody>
          <a:bodyPr/>
          <a:lstStyle/>
          <a:p>
            <a:r>
              <a:rPr lang="en-US" sz="2000" dirty="0"/>
              <a:t>Compare Section</a:t>
            </a:r>
          </a:p>
        </p:txBody>
      </p:sp>
      <p:sp>
        <p:nvSpPr>
          <p:cNvPr id="14" name="Compare Section - Text">
            <a:extLst>
              <a:ext uri="{FF2B5EF4-FFF2-40B4-BE49-F238E27FC236}">
                <a16:creationId xmlns:a16="http://schemas.microsoft.com/office/drawing/2014/main" id="{48B0953F-74D7-0140-8C86-93FC4F66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341" y="2509117"/>
            <a:ext cx="5140515" cy="3535744"/>
          </a:xfrm>
        </p:spPr>
        <p:txBody>
          <a:bodyPr/>
          <a:lstStyle/>
          <a:p>
            <a:r>
              <a:rPr lang="en-IN" sz="2000" dirty="0"/>
              <a:t>Similar to existing renewable-energy systems, the project uses a wind turbine to generate electricity and sensors to monitor the electrical output.</a:t>
            </a:r>
          </a:p>
          <a:p>
            <a:r>
              <a:rPr lang="en-IN" sz="2000" dirty="0"/>
              <a:t>The system uses a microcontroller to process and display the measured parameters.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2000" dirty="0"/>
          </a:p>
        </p:txBody>
      </p:sp>
      <p:sp>
        <p:nvSpPr>
          <p:cNvPr id="15" name="Contrast Section">
            <a:extLst>
              <a:ext uri="{FF2B5EF4-FFF2-40B4-BE49-F238E27FC236}">
                <a16:creationId xmlns:a16="http://schemas.microsoft.com/office/drawing/2014/main" id="{E0F9A328-ECA9-CC4E-B0A6-FA23EEE9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37779"/>
            <a:ext cx="5138928" cy="450829"/>
          </a:xfrm>
        </p:spPr>
        <p:txBody>
          <a:bodyPr/>
          <a:lstStyle/>
          <a:p>
            <a:r>
              <a:rPr lang="en-US" sz="2000" dirty="0"/>
              <a:t>Contrast Section</a:t>
            </a:r>
          </a:p>
        </p:txBody>
      </p:sp>
      <p:sp>
        <p:nvSpPr>
          <p:cNvPr id="16" name="Contrast Section - Text">
            <a:extLst>
              <a:ext uri="{FF2B5EF4-FFF2-40B4-BE49-F238E27FC236}">
                <a16:creationId xmlns:a16="http://schemas.microsoft.com/office/drawing/2014/main" id="{2EBC524D-C050-3F4A-88E2-E7EBEEE90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38928" cy="3538728"/>
          </a:xfrm>
        </p:spPr>
        <p:txBody>
          <a:bodyPr/>
          <a:lstStyle/>
          <a:p>
            <a:r>
              <a:rPr lang="en-IN" sz="2000" dirty="0"/>
              <a:t>Unlike a conventional mini wind turbine with only local measurement, this system integrates </a:t>
            </a:r>
            <a:r>
              <a:rPr lang="en-IN" sz="2000" b="1" dirty="0"/>
              <a:t>ESP32 and Blynk IoT</a:t>
            </a:r>
            <a:r>
              <a:rPr lang="en-IN" sz="2000" dirty="0"/>
              <a:t>.</a:t>
            </a:r>
          </a:p>
          <a:p>
            <a:r>
              <a:rPr lang="en-IN" sz="2000" dirty="0"/>
              <a:t>The user can monitor the turbine's electrical performance remotely through a Blynk dashboard.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154754"/>
            <a:ext cx="4248912" cy="590931"/>
          </a:xfrm>
        </p:spPr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4229366B-9DFE-0244-A864-A3ECC8897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68" y="2102966"/>
            <a:ext cx="4601972" cy="4634165"/>
          </a:xfrm>
        </p:spPr>
        <p:txBody>
          <a:bodyPr/>
          <a:lstStyle/>
          <a:p>
            <a:r>
              <a:rPr lang="en-IN" dirty="0"/>
              <a:t>The prototype consists of a compact mini wind turbine connected to a generator.</a:t>
            </a:r>
          </a:p>
          <a:p>
            <a:r>
              <a:rPr lang="en-IN" dirty="0"/>
              <a:t>The generated electrical energy is processed through the rectifier and charging circuit before being stored in the battery.</a:t>
            </a:r>
          </a:p>
          <a:p>
            <a:r>
              <a:rPr lang="en-IN" dirty="0"/>
              <a:t>The ESP32 monitors the electrical parameters using voltage and current sensors.</a:t>
            </a:r>
          </a:p>
          <a:p>
            <a:r>
              <a:rPr lang="en-IN" dirty="0"/>
              <a:t>The system provides both </a:t>
            </a:r>
            <a:r>
              <a:rPr lang="en-IN" b="1" dirty="0"/>
              <a:t>local OLED monitoring and remote Blynk monitoring</a:t>
            </a:r>
            <a:r>
              <a:rPr lang="en-IN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DFBC40-6EA7-7EC7-2834-8336CD846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769" y="2266122"/>
            <a:ext cx="6678831" cy="43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D8FCB22-2DC7-E144-8B90-49F436AB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88968"/>
            <a:ext cx="5135372" cy="490347"/>
          </a:xfrm>
        </p:spPr>
        <p:txBody>
          <a:bodyPr/>
          <a:lstStyle/>
          <a:p>
            <a:r>
              <a:rPr lang="en-US" dirty="0"/>
              <a:t>Detection Breakdown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8625A-112E-464F-ACA3-9912D8075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9910"/>
              </p:ext>
            </p:extLst>
          </p:nvPr>
        </p:nvGraphicFramePr>
        <p:xfrm>
          <a:off x="566929" y="2007476"/>
          <a:ext cx="10515599" cy="4184604"/>
        </p:xfrm>
        <a:graphic>
          <a:graphicData uri="http://schemas.openxmlformats.org/drawingml/2006/table">
            <a:tbl>
              <a:tblPr/>
              <a:tblGrid>
                <a:gridCol w="2221568">
                  <a:extLst>
                    <a:ext uri="{9D8B030D-6E8A-4147-A177-3AD203B41FA5}">
                      <a16:colId xmlns:a16="http://schemas.microsoft.com/office/drawing/2014/main" val="3801361345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543861333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301260947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4003633720"/>
                    </a:ext>
                  </a:extLst>
                </a:gridCol>
              </a:tblGrid>
              <a:tr h="643786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259409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09118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78474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51411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3757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790B5B5-F6C8-BB26-AF60-88497887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779315"/>
            <a:ext cx="10287000" cy="451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FCAC153A-38CE-CA14-5FC1-834EFDDF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090547"/>
            <a:ext cx="10137875" cy="396824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Smart Renewable Energy for Urban Applications</a:t>
            </a:r>
          </a:p>
          <a:p>
            <a:r>
              <a:rPr lang="en-IN" dirty="0"/>
              <a:t>The </a:t>
            </a:r>
            <a:r>
              <a:rPr lang="en-IN" b="1" dirty="0"/>
              <a:t>Mini Wind Turbine for Urban Energy Generation</a:t>
            </a:r>
            <a:r>
              <a:rPr lang="en-IN" dirty="0"/>
              <a:t> combines renewable energy generation with modern IoT technology.</a:t>
            </a:r>
          </a:p>
          <a:p>
            <a:r>
              <a:rPr lang="en-IN" dirty="0"/>
              <a:t>The integration of </a:t>
            </a:r>
            <a:r>
              <a:rPr lang="en-IN" b="1" dirty="0"/>
              <a:t>ESP32, voltage sensor, ACS712 current sensor, OLED display, battery storage, Wi-Fi, and Blynk IoT</a:t>
            </a:r>
            <a:r>
              <a:rPr lang="en-IN" dirty="0"/>
              <a:t> provides both local and remote monitoring.</a:t>
            </a:r>
          </a:p>
          <a:p>
            <a:r>
              <a:rPr lang="en-IN" dirty="0"/>
              <a:t>The project demonstrates a practical approach to </a:t>
            </a:r>
            <a:r>
              <a:rPr lang="en-IN" b="1" dirty="0"/>
              <a:t>small-scale urban renewable-energy generation</a:t>
            </a:r>
            <a:r>
              <a:rPr lang="en-IN" dirty="0"/>
              <a:t> and provides a strong foundation for future smart-energy applications.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427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Regular</vt:lpstr>
      <vt:lpstr>Georgia</vt:lpstr>
      <vt:lpstr>System Font Regular</vt:lpstr>
      <vt:lpstr>Office Theme</vt:lpstr>
      <vt:lpstr>MINI WIND TURBINE FOR URBAN ENERGY GENERATION</vt:lpstr>
      <vt:lpstr>MINI WIND TURBINE FOR URBAN ENERGY GENERATION</vt:lpstr>
      <vt:lpstr>Double Content Slide</vt:lpstr>
      <vt:lpstr>Bulleted List Slide</vt:lpstr>
      <vt:lpstr>Comparison Slide</vt:lpstr>
      <vt:lpstr>Prototype</vt:lpstr>
      <vt:lpstr>Detection Breakdown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Naveen kumar R</cp:lastModifiedBy>
  <cp:revision>83</cp:revision>
  <dcterms:created xsi:type="dcterms:W3CDTF">2019-04-04T19:20:28Z</dcterms:created>
  <dcterms:modified xsi:type="dcterms:W3CDTF">2026-08-29T03:37:20Z</dcterms:modified>
  <cp:category/>
</cp:coreProperties>
</file>